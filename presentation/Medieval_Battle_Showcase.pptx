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3474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COMPUTER GRAPHICS LAB DEMONSTRATION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Medieval Fortress Siege Simulation</a:t>
            </a:r>
          </a:p>
          <a:p>
            <a:pPr>
              <a:spcBef>
                <a:spcPts val="1000"/>
              </a:spcBef>
              <a:defRPr sz="1600">
                <a:solidFill>
                  <a:srgbClr val="38BDF8"/>
                </a:solidFill>
              </a:defRPr>
            </a:pPr>
            <a:r>
              <a:t>Hierarchical Kinematics, Gouraud &amp; Blinn-Phong Shading, Soft Shadow Mapping,</a:t>
            </a:r>
            <a:br/>
            <a:r>
              <a:t>Real-Time Ray Tracing, and Ballistic Destruction in C++ / OpenGL 3.3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• Core Deliverables: Transformations, Dual Shading (Gouraud &amp; Phong), Lighting, Motion/Animation, Interaction, Ray Tracing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Framework: Pure C++17, OpenGL 3.3 Core, GLSL, GLFW 3.5, GLAD, GLM | Toolchain: WinLibs MinGW-w64 (GCC 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Scope Fulfillment: Proposal vs. Final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📋 ORIGINAL PROPOSAL SCOPE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Language &amp; API: Python 3 / PyOpenGL Compatibility Profile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Cannon Model: Single static/translating field cannon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Kinematics: Wheel roll linked to distance, barrel elevation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Shading Model: Basic Phong shading model with directional light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Materials: 2 basic materials (matte wood carriage, shiny barrel)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Projectile: Optional simple parabolic cannonball arc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Target Scene: Flat ground plane with simple static target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User Controls: Fixed viewpoint, basic keyboard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DE80"/>
                </a:solidFill>
              </a:defRPr>
            </a:pPr>
            <a:r>
              <a:t>🚀 DELIVERED FINAL IMPLEMENTATION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✓ C++17 &amp; OpenGL 3.3 Core Profile: Zero legacy GL; pure modern shaders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✓ Artillery Battery: 3 independently articulated cannons (drive, yaw, elevate)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✓ Dual Shading Models: Runtime toggle between Gouraud &amp; Blinn-Phong ('G')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✓ Multi-Light System: Sun/Moon, sky/ground ambient, 8 point lights (braziers)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✓ Soft Shadow Mapping: 2048² Depth FBO pass with 3×3 PCF &amp; depth bias ('X')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✓ Real-Time Ray Tracing: Kay-Kajiya slab intersection test on GPU ('K')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✓ Full Compound Fortress: 4 towers, double curtain walls, river, drawbridge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✓ Autonomous Tactical Siege: 6-phase battle, archers, shields, destruction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Architecture &amp; Real-Time Graphics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Input &amp; Camera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Poll GLFW keyboard &amp; mouse</a:t>
            </a:r>
            <a:br/>
            <a:r>
              <a:t>Update 360° spherical orbit camera</a:t>
            </a:r>
            <a:br/>
            <a:r>
              <a:t>Calculate deltaTime &amp; frame pacing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2. Physical Simulation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Semi-implicit Euler ballistics</a:t>
            </a:r>
            <a:br/>
            <a:r>
              <a:t>Sphere-vs-AABB continuous collision</a:t>
            </a:r>
            <a:br/>
            <a:r>
              <a:t>Autonomous 6-phase state machine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737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3. Shadow Depth Pass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Render light-space depth map</a:t>
            </a:r>
            <a:br/>
            <a:r>
              <a:t>2048×2048 32-bit floating-point FBO</a:t>
            </a:r>
            <a:br/>
            <a:r>
              <a:t>Cull front faces to prevent acne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56032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737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4. Main Render Pass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Activate active shader (Gouraud/Phong)</a:t>
            </a:r>
            <a:br/>
            <a:r>
              <a:t>Traverse hierarchical scene graph</a:t>
            </a:r>
            <a:br/>
            <a:r>
              <a:t>Upload lighting, PCF shadows &amp; ray boxes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Modular C++ Architecture (Over 40 Modular Classes):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Core Math &amp; Pipeline: Transform, Mesh (VAO/VBO/EBO), shaderClass, Primitives, Dimensions, Palette</a:t>
            </a:r>
            <a:br/>
            <a:r>
              <a:t>• Scene Graph Entities: Cannon (Carriage, Wheel, Shaft), Projectile, CompoundCastle, Tower, Door, Bridge, Water</a:t>
            </a:r>
            <a:br/>
            <a:r>
              <a:t>• Characters &amp; Dynamic Systems: Soldier, Archer, Arrow, ShadowMap, ParticleSystem, Scenery, SkyClouds, Birds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Hierarchical Transformations &amp; Kinematics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📐 KINEMATIC FORMULATION &amp; EQUATIONS</a:t>
            </a:r>
          </a:p>
          <a:p>
            <a:pPr>
              <a:spcBef>
                <a:spcPts val="500"/>
              </a:spcBef>
              <a:defRPr sz="1100" b="1">
                <a:solidFill>
                  <a:srgbClr val="38BDF8"/>
                </a:solidFill>
              </a:defRPr>
            </a:pPr>
            <a:r>
              <a:t>• Affine Model Matrix: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M_model = T(t) • R_y(ψ) • R_z(θ) • S(s)</a:t>
            </a:r>
          </a:p>
          <a:p>
            <a:pPr>
              <a:spcBef>
                <a:spcPts val="500"/>
              </a:spcBef>
              <a:defRPr sz="1100" b="1">
                <a:solidFill>
                  <a:srgbClr val="38BDF8"/>
                </a:solidFill>
              </a:defRPr>
            </a:pPr>
            <a:r>
              <a:t>• Non-Slip Rolling Constraint: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Δθ_wheel = −Δs / R_wheel  (R = 0.584 m)</a:t>
            </a:r>
            <a:br/>
            <a:r>
              <a:t>Guarantees zero linear tire skid across ground</a:t>
            </a:r>
          </a:p>
          <a:p>
            <a:pPr>
              <a:spcBef>
                <a:spcPts val="500"/>
              </a:spcBef>
              <a:defRPr sz="1100" b="1">
                <a:solidFill>
                  <a:srgbClr val="38BDF8"/>
                </a:solidFill>
              </a:defRPr>
            </a:pPr>
            <a:r>
              <a:t>• Trunnion Elevation Pivot: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M_barrel = T(p_pivot) • R_z(θ_elev) • T(−p_pivot) • T(x_recoil)</a:t>
            </a:r>
            <a:br/>
            <a:r>
              <a:t>Rotates about arbitrary hinge; clamped 0° to 45°</a:t>
            </a:r>
          </a:p>
          <a:p>
            <a:pPr>
              <a:spcBef>
                <a:spcPts val="500"/>
              </a:spcBef>
              <a:defRPr sz="1100" b="1">
                <a:solidFill>
                  <a:srgbClr val="38BDF8"/>
                </a:solidFill>
              </a:defRPr>
            </a:pPr>
            <a:r>
              <a:t>• Muzzle Spawn Projection: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p_muzzle = M_carriage • M_barrel • [L_barrel, 0, 0, 1]^T</a:t>
            </a:r>
            <a:br/>
            <a:r>
              <a:t>Exact world-space spawn coordinate for ballistics</a:t>
            </a:r>
          </a:p>
          <a:p>
            <a:pPr>
              <a:spcBef>
                <a:spcPts val="500"/>
              </a:spcBef>
              <a:defRPr sz="1100" b="1">
                <a:solidFill>
                  <a:srgbClr val="38BDF8"/>
                </a:solidFill>
              </a:defRPr>
            </a:pPr>
            <a:r>
              <a:t>• View &amp; Perspective Matrices: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V = lookAt(E, C, Up),  P = perspective(45°, aspect, 0.1, 600)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ELEVATION STAGES (0°, 25°, 45°)</a:t>
            </a:r>
          </a:p>
        </p:txBody>
      </p:sp>
      <p:pic>
        <p:nvPicPr>
          <p:cNvPr id="10" name="Picture 9" descr="05_elev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Dual Shading Models: Gouraud vs. Blinn-Phong (Key 'G')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GOURAUD SHADING (PER-VERTEX)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Implementation: gouraud.vert + gouraud.frag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Evaluation: Lighting calculated strictly at vertices in vertex shader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Interpolation: Hardware rasterizer linearly interpolates RGB colors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Equation: I_v = I_amb + I_diff(N•L) + I_spec(R•V)^α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Characteristics: Ultra-fast execution, O(V) ALU cost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Artifacts: Prone to Mach banding; misses specular highlights if they land inside large polygons</a:t>
            </a:r>
          </a:p>
        </p:txBody>
      </p:sp>
      <p:pic>
        <p:nvPicPr>
          <p:cNvPr id="8" name="Picture 7" descr="14_shading_goura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97680"/>
            <a:ext cx="4846320" cy="27260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BLINN-PHONG SHADING (PER-FRAGMENT)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Implementation: lit.vert + lit.frag (ACTIVE DEFAULT)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Evaluation: Normal &amp; world position interpolated; full lighting evaluated per pixel in fragment shader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Halfway Vector: H = (L + V) / ||L + V||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Equation: I_f = I_amb + (N•L)•C_diff + (N•H)^α • C_spec + I_rim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Fresnel Term: I_rim = k_metal • (1 − max(N•V, 0))^3.5 • C_rim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Characteristics: Smooth elliptical highlights, eliminates Mach banding, supports procedural stone/wood</a:t>
            </a:r>
          </a:p>
        </p:txBody>
      </p:sp>
      <p:pic>
        <p:nvPicPr>
          <p:cNvPr id="11" name="Picture 10" descr="13_shading_ph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29768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Multi-Light System &amp; Atmospheric Rendering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Hemispheric Ambient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I_amb = mix(C_ground, C_sky, (N_y + 1)/2) • k_a</a:t>
            </a:r>
            <a:br/>
            <a:r>
              <a:t>Warm ground reflections + cool celestial skylight.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Directional Sun &amp; Moon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Dynamic sunlight (day) &amp; pale moonlight (night).</a:t>
            </a:r>
            <a:br/>
            <a:r>
              <a:t>Toggle in real time with key 'N'. Includes visible emissive celestial bodies.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73736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8 Quadratic Point Lights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f_att(d) = 1 / (1 + 0.12d + 0.045d²)</a:t>
            </a:r>
            <a:br/>
            <a:r>
              <a:t>Applied to castle wall braziers, torches, and explosive cannon muzzle sparks.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5603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73736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DE80"/>
                </a:solidFill>
              </a:defRPr>
            </a:pPr>
            <a:r>
              <a:t>Distance Fog &amp; ACES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Exponential fog: 1 − exp(−(d_fog • k)^1.35)</a:t>
            </a:r>
            <a:br/>
            <a:r>
              <a:t>ACES Filmic Tone Mapping + Gamma 2.2 correction.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Soft Shadow Mapping with 3x3 PCF (Key 'X')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🎯 SHADOW PIPELINE &amp; PCF ALGORITHM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Pass 1 (Light Space): Render depth to 2048² 32-bit floating-point FBO texture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Light Projection: Orthographic frustum covering entire battlefield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Slope-Scaled Depth Bias: Eliminates shadow acne on grazing surfaces:</a:t>
            </a:r>
            <a:br/>
            <a:r>
              <a:t>bias = max(0.0035 • (1.0 − N•L), 0.0006)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Percentage-Closer Filtering (PCF): 3×3 kernel averaging 9 depth samples:</a:t>
            </a:r>
            <a:br/>
            <a:r>
              <a:t>shadow = (1/9) Σ Σ (proj_z − bias &gt; depth ? 0.0 : 1.0)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Result: Visually realistic soft penumbrae under wheels, fortress walls, and soldiers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trol_sidew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Real-Time Ray Tracing: Kay-Kajiya Slab Method (Key 'K')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⚡ GPU SLAB RAY-BOX INTERSECTION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• Target Feature: Real-time ray tracing implemented directly on GPU in GLSL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• Ray Formulation: r(t) = o + t•d, where o = p_frag + 0.05•N, d = lightDir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• Kay-Kajiya Slab Algorithm: Evaluates ray intersection across 3 pairs of parallel AABB planes:</a:t>
            </a:r>
            <a:br/>
            <a:r>
              <a:t>t0 = (bMin − ro) / rd,  t1 = (bMax − ro) / rd</a:t>
            </a:r>
            <a:br/>
            <a:r>
              <a:t>tNear = max(tmin.x, tmin.y, tmin.z),  tFar = min(tmax.x, tmax.y, tmax.z)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• Hit Condition: (tNear ≤ tFar) &amp;&amp; (tFar &gt; 0.0)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• Obstacle Array: Active castle walls &amp; towers uploaded as uniform array of 36 boxes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• Key 'K' Toggle: Real-time switch casting exact, razor-sharp ray-traced shadows without texture discretization!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GLSL SHADOW RAY KERNEL</a:t>
            </a:r>
          </a:p>
          <a:p>
            <a:pPr>
              <a:spcBef>
                <a:spcPts val="600"/>
              </a:spcBef>
              <a:defRPr sz="1000">
                <a:solidFill>
                  <a:srgbClr val="FBBF24"/>
                </a:solidFill>
                <a:latin typeface="Courier New"/>
              </a:defRPr>
            </a:pPr>
            <a:r>
              <a:t>// In lit.frag:</a:t>
            </a:r>
            <a:br/>
            <a:r>
              <a:t>float calcRayShadow(vec3 ro, vec3 rd, float maxDist) {</a:t>
            </a:r>
            <a:br/>
            <a:r>
              <a:t>    for (int i = 0; i &lt; numBoxes; i++) {</a:t>
            </a:r>
            <a:br/>
            <a:r>
              <a:t>        float tHit;</a:t>
            </a:r>
            <a:br/>
            <a:r>
              <a:t>        if (hitBox(ro, rd, boxMin[i], boxMax[i], tHit)) {</a:t>
            </a:r>
            <a:br/>
            <a:r>
              <a:t>            if (tHit &gt; 0.15 &amp;&amp; tHit &lt; maxDist) {</a:t>
            </a:r>
            <a:br/>
            <a:r>
              <a:t>                return 0.0; // Occluded!</a:t>
            </a:r>
            <a:br/>
            <a:r>
              <a:t>            }</a:t>
            </a:r>
            <a:br/>
            <a:r>
              <a:t>        }</a:t>
            </a:r>
            <a:br/>
            <a:r>
              <a:t>    }</a:t>
            </a:r>
            <a:br/>
            <a:r>
              <a:t>    return 1.0; // Fully visible</a:t>
            </a:r>
            <a:br/>
            <a:r>
              <a:t>}</a:t>
            </a:r>
            <a:br/>
            <a:br/>
            <a:r>
              <a:t>// Live runtime toggle:</a:t>
            </a:r>
            <a:br/>
            <a:r>
              <a:t>// Press 'K' to toggle Ray Tracing mode</a:t>
            </a:r>
            <a:br/>
            <a:r>
              <a:t>// Press 'X' to return to Soft PCF Depth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Physics Simulation, Ballistics &amp; Progressive Destruction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💥 BALLISTIC PHYSICS &amp; COLLISION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</a:defRPr>
            </a:pPr>
            <a:r>
              <a:t>• Semi-Implicit Euler Integration: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v(t + Δt) = v(t) + g • Δt</a:t>
            </a:r>
            <a:br/>
            <a:r>
              <a:t>p(t + Δt) = p(t) + v(t + Δt) • Δt</a:t>
            </a:r>
            <a:br/>
            <a:r>
              <a:t>Energy-conserving symplectic numerical integrator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</a:defRPr>
            </a:pPr>
            <a:r>
              <a:t>• Sphere-vs-AABB Collision: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c_i = clamp(p_i, bMin_i, bMax_i)</a:t>
            </a:r>
            <a:br/>
            <a:r>
              <a:t>Hit if ||p_sphere − c|| ≤ r_sphere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</a:defRPr>
            </a:pPr>
            <a:r>
              <a:t>• Wall Fracture &amp; Chipping: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10% health per impact; color darkens on hit;</a:t>
            </a:r>
            <a:br/>
            <a:r>
              <a:t>boundaries removed at 0 HP so balls fly through gap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</a:defRPr>
            </a:pPr>
            <a:r>
              <a:t>• Door Splintering: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Wooden gates shatter completely after 2 cannon hits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</a:defRPr>
            </a:pPr>
            <a:r>
              <a:t>• Drawbridge Physics: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Bridge chains snap when shot; timber deck falls 85° → 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nnonsiege_b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Autonomous 6-Phase Tactical Siege State Machine (Key 'B')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Phase 0: Peaceful Patrol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Sentries pace side walls.</a:t>
            </a:r>
            <a:br/>
            <a:r>
              <a:t>Relief guards climb wooden ladders periodically.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Phase 1: Advance &amp; Alarm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Alarm rings; defenders raise drawbridge (0°→85°).</a:t>
            </a:r>
            <a:br/>
            <a:r>
              <a:t>Cannons &amp; infantry march in synchronized lockstep.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7171"/>
                </a:solidFill>
              </a:defRPr>
            </a:pPr>
            <a:r>
              <a:t>Phase 2: Archer Barrage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Castle archers loose arrows; infantry raise shields.</a:t>
            </a:r>
            <a:br/>
            <a:r>
              <a:t>Cannoneer 1 hit while priming; relieved by infantryman.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347472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Phase 3: Severing Hinge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Cannoneer 2 (preserved unharmed) shoots bridge chains.</a:t>
            </a:r>
            <a:br/>
            <a:r>
              <a:t>Chains snap; drawbridge slams flat across moat.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069080"/>
            <a:ext cx="347472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2062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Phase 4: Coordinated Siege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Simultaneous 3-cannon barrage:</a:t>
            </a:r>
            <a:br/>
            <a:r>
              <a:t>Cannon 1 hits left wall, Cannon 3 hits right, Cannon 2 breaks door.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069080"/>
            <a:ext cx="347472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2062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DE80"/>
                </a:solidFill>
              </a:defRPr>
            </a:pPr>
            <a:r>
              <a:t>Phase 5: Courtyard Charge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Infantry form 2-column bridge crossing;</a:t>
            </a:r>
            <a:br/>
            <a:r>
              <a:t>charge courtyard; animated melee duel; golden crest victory!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User Interaction &amp; Comprehensive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INTERACTIVE KEYBOARD &amp; MOUSE CONTROLS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Mouse Left Drag      : 360° Spherical orbit camera rotation (yaw &amp; pitch)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Mouse Wheel          : Interactive zoom in / zoom out (radius 12m to 240m)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Left / Right Arrows  : Drive active cannon forward / backward (wheels roll with no slip)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Up / Down Arrows     : Elevate / depress active cannon barrel (clamped 0° to 45°)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W / S Keys           : Steer / yaw active cannon barrel left / right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Spacebar             : Fire active cannon (triggers recoil, ballistic ball, muzzle sparks)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Keys 1, 2, 3 / A     : Select Cannon 1 (left), Cannon 2 (center), Cannon 3 (right), or All (A)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G Key                : Toggle Shading Mode in real time: Gouraud (per-vertex) &lt;-&gt; Blinn-Phong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X / Y Keys           : Toggle Soft Shadow Mapping: Enable/disable 3×3 PCF depth FBO shadows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K Key                : Toggle Real-Time Ray Tracing: Enable GPU ray-box slab shadow rays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R Key (Hold)         : Manually raise drawbridge (0° → 85°); release to lower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N Key                : Toggle Day / Night: Switch solar/lunar illumination and sky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B / P / T Keys       : Start battle simulation (B), Pause/resume (P), Reset simulation (T)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Demo Video Breakdown (presentation.mp4)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⏱ 0:00 - 0:05 — Peaceful Patrol &amp; Wall Sentries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Sentries patrol curtain walls; soft PCF shadows visible across grass; day sky.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⏱ 0:05 - 0:10 — Alarm &amp; Synchronized Advance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Defenders winch up drawbridge; 3 cannons &amp; infantry battalion march in 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⏱ 0:10 - 0:18 — Archer Barrage &amp; Relief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Archers loose volleys; troops raise shields; cannoneer 1 hit &amp; replaced by infantry.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3375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⏱ 0:18 - 0:25 — Severing the Bridge Hinge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Center cannon fires precision shot; drawbridge chains snap; bridge drops across moat.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377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⏱ 0:25 - 0:35 — Coordinated Artillery Bombardment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Cannons 1 &amp; 3 pound curtain walls; Cannon 2 shatters wooden gatehouse doors.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84632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9377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⏱ 0:35 - 0:48 — Courtyard Charge &amp; Melee Victory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Infantry form 2-column bridge march, breach courtyard, win melee, gold crest pulses!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Visual Results &amp; Screenshot Gallery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larm_m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292608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86200" y="19202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Full Scene Overview &amp; March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nnoneer1_h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292608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6880" y="19202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Archer Barrage &amp; Shield 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nnonsiege_brea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06240"/>
            <a:ext cx="292608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434340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Artillery Breach of Gatehouse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69080"/>
            <a:ext cx="5212080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arge_troops_ins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206240"/>
            <a:ext cx="292608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0" y="434340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Courtyard Breach &amp; Melee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COMPUTER GRAPHICS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Conclusion &amp; Academic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KEY ACADEMIC ACHIEVEMENTS &amp; LEARNINGS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100% Scope Fulfillment: Delivered every baseline requirement and expanded into an advanced 3-D siege simulator.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Mathematical Rigor: Exact affine transformations, forward kinematic scene graph, and non-slipping rolling constraints.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Shading Mastery: Deep comparative analysis and real-time switching between Gouraud and Blinn-Phong shading.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Advanced Illumination: Multi-light system, quadratic distance attenuation, and hemispherical ambient bounce.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Dual Shadow Implementations: Real-time 3×3 PCF soft shadow mapping and GPU ray-box slab ray tracing.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Physical Simulation: Symplectic semi-implicit Euler integration, continuous AABB collisions, and multi-stage fracture.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Dynamic Interactivity: Full orbit camera control, manual artillery firing, and interactive drawbridge winches.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Academic References Followed: Joey de Vries (LearnOpenGL), Blinn (1977), Phong (1975), Kay &amp; Kajiya (1986).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8869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Medieval Fortress Siege Simulation</a:t>
            </a:r>
          </a:p>
          <a:p>
            <a:pPr algn="ctr">
              <a:spcBef>
                <a:spcPts val="600"/>
              </a:spcBef>
              <a:defRPr sz="1500">
                <a:solidFill>
                  <a:srgbClr val="38BDF8"/>
                </a:solidFill>
              </a:defRPr>
            </a:pPr>
            <a:r>
              <a:t>Computer Graphics Lab Project Showcase</a:t>
            </a:r>
          </a:p>
          <a:p>
            <a:pPr algn="ctr"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Ready for Live Demo, Parameter Adjustments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